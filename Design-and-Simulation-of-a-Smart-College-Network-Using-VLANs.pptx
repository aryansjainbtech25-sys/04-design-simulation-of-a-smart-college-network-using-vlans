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Familjen Grotesk Bold"/>
      <p:regular r:id="rId201314"/>
    </p:embeddedFont>
    <p:embeddedFont>
      <p:font typeface="Red Hat Mono"/>
      <p:regular r:id="rId201315"/>
    </p:embeddedFont>
    <p:embeddedFont>
      <p:font typeface="Red Hat Mono Bold"/>
      <p:regular r:id="rId201316"/>
    </p:embeddedFont>
    <p:embeddedFont>
      <p:font typeface="Red Hat Text Bold"/>
      <p:regular r:id="rId201317"/>
    </p:embeddedFont>
    <p:embeddedFont>
      <p:font typeface="Red Hat Text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3E4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E32"/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2A2E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588" y="438037"/>
            <a:ext cx="117091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3" kern="100" dirty="0">
                <a:solidFill>
                  <a:srgbClr val="FFFFFF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COMPUTER NETWORKS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82588" y="1128621"/>
            <a:ext cx="11226519" cy="2760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7100" b="1" spc="-107" kern="10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Design &amp; Simulation of a Smart College Network Using VLANs</a:t>
            </a:r>
            <a:endParaRPr lang="en-US" sz="7100" dirty="0"/>
          </a:p>
        </p:txBody>
      </p:sp>
      <p:sp>
        <p:nvSpPr>
          <p:cNvPr id="4" name="Text 2"/>
          <p:cNvSpPr/>
          <p:nvPr/>
        </p:nvSpPr>
        <p:spPr>
          <a:xfrm>
            <a:off x="482588" y="4007780"/>
            <a:ext cx="11709107" cy="27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Packet Tracer simulation + Wireshark analysis · Static IP addressing · No DHCP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588" y="4490045"/>
          <a:ext cx="11226519" cy="914400"/>
        </p:xfrm>
        <a:graphic>
          <a:graphicData uri="http://schemas.openxmlformats.org/drawingml/2006/table">
            <a:tbl>
              <a:tblPr/>
              <a:tblGrid>
                <a:gridCol w="5613260"/>
                <a:gridCol w="5613260"/>
              </a:tblGrid>
              <a:tr h="391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Student Name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USN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</a:tr>
              <a:tr h="391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Aryan Inchal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1RUA25CSE0084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</a:tr>
              <a:tr h="391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Bellumkonda Sandilya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1RUA25CSE0108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</a:tr>
              <a:tr h="3919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Bhuvan Tej U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1RUA25CSE0119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</a:tr>
              <a:tr h="3792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Aryan S Jain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1RUA25CSE0087</a:t>
                      </a:r>
                      <a:endParaRPr lang="en-US" sz="11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78581" marR="178581" marT="95243" marB="95243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E3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2588" y="6651952"/>
            <a:ext cx="11709107" cy="228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Linux host: wlo1 · 172.16.222.235/24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109725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 flat campus network leaves every trust group exposed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333625"/>
            <a:ext cx="3454314" cy="3914775"/>
          </a:xfrm>
          <a:prstGeom prst="roundRect">
            <a:avLst>
              <a:gd name="adj" fmla="val 1048"/>
            </a:avLst>
          </a:prstGeom>
          <a:solidFill>
            <a:srgbClr val="111A2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562225"/>
            <a:ext cx="482588" cy="482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3199291"/>
            <a:ext cx="299712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Problem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8179" y="3718020"/>
            <a:ext cx="2997125" cy="1997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One broadcast domain means no isolation, unnecessary ARP/broadcast traffic, no policy enforcement point, and poor manageability.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68691" y="2333625"/>
            <a:ext cx="3454314" cy="3914775"/>
          </a:xfrm>
          <a:prstGeom prst="roundRect">
            <a:avLst>
              <a:gd name="adj" fmla="val 1048"/>
            </a:avLst>
          </a:prstGeom>
          <a:solidFill>
            <a:srgbClr val="111A2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2562225"/>
            <a:ext cx="482588" cy="482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3199291"/>
            <a:ext cx="299712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Objective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97285" y="3718020"/>
            <a:ext cx="2997125" cy="166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Segment Students, Faculty, Admin, and Guests with VLANs, route through one 802.1Q trunk, and enforce access with ACLs.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8127797" y="2333625"/>
            <a:ext cx="3454314" cy="3914775"/>
          </a:xfrm>
          <a:prstGeom prst="roundRect">
            <a:avLst>
              <a:gd name="adj" fmla="val 1048"/>
            </a:avLst>
          </a:prstGeom>
          <a:solidFill>
            <a:srgbClr val="111A2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2562225"/>
            <a:ext cx="482588" cy="482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6391" y="3199291"/>
            <a:ext cx="2997125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Tools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356391" y="3718020"/>
            <a:ext cx="2997125" cy="1331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Cisco Packet Tracer 8.x, Wireshark 4.x, Cisco 2960-24TT, Cisco ISR4331, Linux host.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414525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TOPOLOGY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3535671" cy="2662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One switch, one trunk, four controlled broadcast domains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3814763"/>
            <a:ext cx="3535671" cy="2213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PCs and Server connect to the 2960 switch on Fa0/1–Fa0/5. Switch Gig0/1 trunks to router g0/0/0.</a:t>
            </a:r>
            <a:endParaRPr lang="en-US" sz="1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Router-on-a-Stick provides inter-VLAN routing.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9534" y="1097161"/>
            <a:ext cx="6603835" cy="38967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1930" y="5302806"/>
            <a:ext cx="6827369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Fa0/1 Student; Fa0/2 Faculty; Fa0/3 Admin; Fa0/5 Server; Fa0/4 Guest; Gig0/1 trunk to Router g0/0/0.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5171"/>
            <a:ext cx="11582110" cy="187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spc="9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ADDRESSING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65"/>
            <a:ext cx="10972526" cy="641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50" b="1" spc="-33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The IP plan maps each group to one /24 network</a:t>
            </a:r>
            <a:endParaRPr lang="en-US" sz="3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15492"/>
          <a:ext cx="10972526" cy="914400"/>
        </p:xfrm>
        <a:graphic>
          <a:graphicData uri="http://schemas.openxmlformats.org/drawingml/2006/table">
            <a:tbl>
              <a:tblPr/>
              <a:tblGrid>
                <a:gridCol w="948111"/>
                <a:gridCol w="1482589"/>
                <a:gridCol w="1967955"/>
                <a:gridCol w="1929260"/>
                <a:gridCol w="2354501"/>
                <a:gridCol w="2290110"/>
              </a:tblGrid>
              <a:tr h="4758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VLAN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Group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Network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Gateway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Assigned hosts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Switch port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9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10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STUDENTS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192.168.10.0/24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192.168.10.1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Student 192.168.10.10 · Fa0/1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Fa0/1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20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20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FACULTY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192.168.20.0/24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192.168.20.1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Faculty 192.168.20.10 · Fa0/2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Fa0/2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402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30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ADMIN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192.168.30.0/24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192.168.30.1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Admin 192.168.30.10 · Fa0/3 · Server 192.168.30.100 · Fa0/5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2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Fa0/3 · Fa0/5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B2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23E"/>
                    </a:solidFill>
                  </a:tcPr>
                </a:tc>
              </a:tr>
              <a:tr h="7512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40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GUESTS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192.168.40.0/24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192.168.40.1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Guest 192.168.40.10 · Fa0/4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Fa0/4</a:t>
                      </a:r>
                      <a:endParaRPr lang="en-US" sz="17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64214" marR="164214" marT="87580" marB="87580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276677"/>
            <a:ext cx="10972526" cy="596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50"/>
              </a:spcAft>
              <a:buNone/>
            </a:pPr>
            <a:r>
              <a:rPr lang="en-US" sz="1250" spc="6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Trunk Gig0/1 to Router g0/0/0 · Mask: 255.255.255.0 · DNS: 8.8.8.8 · all addresses static; no DHCP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spc="6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Mobile hotspot gateway: 172.16.222.1 (Android 12+ uses the 172.16.x.x range) · Host wlo1: 172.16.222.235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731501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CONFIGURATION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670543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Configuration turns the physical star into a routed VLAN fabric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333625"/>
          <a:ext cx="6705432" cy="914400"/>
        </p:xfrm>
        <a:graphic>
          <a:graphicData uri="http://schemas.openxmlformats.org/drawingml/2006/table">
            <a:tbl>
              <a:tblPr/>
              <a:tblGrid>
                <a:gridCol w="1341007"/>
                <a:gridCol w="5364425"/>
              </a:tblGrid>
              <a:tr h="8715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Switch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VLANs 10/20/30/40; Fa0/1→10, Fa0/2→20, Fa0/3→30, Fa0/4→40, Fa0/5→30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24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Trunk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Gig0/1 uses </a:t>
                      </a:r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switchport mode trunk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Router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g0/0/0.10–.40 use </a:t>
                      </a:r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0"/>
                        </a:rPr>
                        <a:t>encapsulation dot1Q 10–40</a:t>
                      </a:r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 with gateways .1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88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D3E6EE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Inbound ACLs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dirty="0">
                          <a:solidFill>
                            <a:srgbClr val="E4E9EB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0"/>
                        </a:rPr>
                        <a:t>STUDENT-ACL on g0/0/0.10; GUEST-ACL on g0/0/0.40</a:t>
                      </a:r>
                      <a:endParaRPr lang="en-US" sz="19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80970" marR="180970" marT="96517" marB="96517" anchor="ctr">
                    <a:lnL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F47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E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350"/>
            <a:ext cx="1158211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spc="102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ACCESS CONTROL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9585" y="939934"/>
            <a:ext cx="10972526" cy="115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00" b="1" spc="-35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Security is selective: protect Admin without breaking useful access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09585" y="2290465"/>
            <a:ext cx="5486263" cy="1917601"/>
          </a:xfrm>
          <a:custGeom>
            <a:avLst/>
            <a:gdLst/>
            <a:ahLst/>
            <a:cxnLst/>
            <a:rect l="l" t="t" r="r" b="b"/>
            <a:pathLst>
              <a:path w="5486263" h="1917601">
                <a:moveTo>
                  <a:pt x="29464" y="0"/>
                </a:moveTo>
                <a:lnTo>
                  <a:pt x="5486263" y="0"/>
                </a:lnTo>
                <a:lnTo>
                  <a:pt x="5486263" y="1917601"/>
                </a:lnTo>
                <a:lnTo>
                  <a:pt x="29464" y="1917601"/>
                </a:lnTo>
                <a:arcTo hR="29464" wR="29464" stAng="5400000" swAng="5400000"/>
                <a:lnTo>
                  <a:pt x="0" y="29464"/>
                </a:lnTo>
                <a:arcTo hR="29464" wR="29464" stAng="10800000" swAng="5400000"/>
                <a:close/>
              </a:path>
            </a:pathLst>
          </a:custGeom>
          <a:solidFill>
            <a:srgbClr val="111A2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533240"/>
            <a:ext cx="5029074" cy="351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Permitted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838179" y="3033911"/>
            <a:ext cx="5029074" cy="674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Students → Server 192.168.30.100:</a:t>
            </a:r>
            <a:pPr algn="l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Allow</a:t>
            </a:r>
            <a:endParaRPr lang="en-US" sz="15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Faculty → all: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Allow; no ACL on g0/0/0.20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095848" y="2290465"/>
            <a:ext cx="5486263" cy="1917601"/>
          </a:xfrm>
          <a:custGeom>
            <a:avLst/>
            <a:gdLst/>
            <a:ahLst/>
            <a:cxnLst/>
            <a:rect l="l" t="t" r="r" b="b"/>
            <a:pathLst>
              <a:path w="5486263" h="1917601">
                <a:moveTo>
                  <a:pt x="0" y="0"/>
                </a:moveTo>
                <a:lnTo>
                  <a:pt x="5456799" y="0"/>
                </a:lnTo>
                <a:arcTo hR="29464" wR="29464" stAng="16200000" swAng="5400000"/>
                <a:lnTo>
                  <a:pt x="5486263" y="1888136"/>
                </a:lnTo>
                <a:arcTo hR="29464" wR="29464" stAng="0" swAng="5400000"/>
                <a:lnTo>
                  <a:pt x="0" y="1917601"/>
                </a:lnTo>
                <a:lnTo>
                  <a:pt x="0" y="0"/>
                </a:lnTo>
                <a:close/>
              </a:path>
            </a:pathLst>
          </a:custGeom>
          <a:solidFill>
            <a:srgbClr val="111A20"/>
          </a:solidFill>
          <a:ln/>
        </p:spPr>
      </p:sp>
      <p:sp>
        <p:nvSpPr>
          <p:cNvPr id="8" name="Text 6"/>
          <p:cNvSpPr/>
          <p:nvPr/>
        </p:nvSpPr>
        <p:spPr>
          <a:xfrm>
            <a:off x="6324442" y="2533240"/>
            <a:ext cx="5029074" cy="351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35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Blocked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6324442" y="3033911"/>
            <a:ext cx="5029074" cy="945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Students → Admin network:</a:t>
            </a:r>
            <a:pPr algn="l" indent="0" marL="0">
              <a:lnSpc>
                <a:spcPct val="114000"/>
              </a:lnSpc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Blocked, except the server host</a:t>
            </a:r>
            <a:endParaRPr lang="en-US" sz="15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Guests → Students, Faculty, Admin: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Blocked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09585" y="4414044"/>
            <a:ext cx="10972526" cy="1130498"/>
          </a:xfrm>
          <a:prstGeom prst="roundRect">
            <a:avLst>
              <a:gd name="adj" fmla="val 3128"/>
            </a:avLst>
          </a:prstGeom>
          <a:solidFill>
            <a:srgbClr val="794F07"/>
          </a:solidFill>
          <a:ln/>
        </p:spPr>
      </p:sp>
      <p:sp>
        <p:nvSpPr>
          <p:cNvPr id="11" name="Text 9"/>
          <p:cNvSpPr/>
          <p:nvPr/>
        </p:nvSpPr>
        <p:spPr>
          <a:xfrm>
            <a:off x="845223" y="4712274"/>
            <a:ext cx="10501248" cy="541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Rule order matters:</a:t>
            </a:r>
            <a:pPr algn="l" indent="0" marL="0">
              <a:lnSpc>
                <a:spcPct val="11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STUDENT-ACL permits host 192.168.30.100 before denying the rest of 192.168.30.0/24. GUEST-ACL denies 10/20/30 before its final permit.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09585" y="5750520"/>
            <a:ext cx="10972526" cy="1109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1600"/>
              </a:spcAft>
              <a:buNone/>
            </a:pPr>
            <a:r>
              <a:rPr lang="en-US" sz="135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Commands used: ipconfig (static 192.168.10.10, no DHCP), ping 192.168.10.1, ping 192.168.30.100 Allow, ping 192.168.30.10 Blocked timeout, show access-lists hits, show ip interface brief.</a:t>
            </a:r>
            <a:endParaRPr lang="en-US" sz="13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35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Mobile-hotspot gateway: 172.16.222.1 (Android 12+ uses the 172.16.x.x range); host wlo1 172.16.222.235/24. A valid static address is confirmed by manual ipconfig, not a DHCP lease.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89498" y="2290465"/>
            <a:ext cx="12700" cy="1917601"/>
          </a:xfrm>
          <a:prstGeom prst="rect">
            <a:avLst/>
          </a:prstGeom>
          <a:solidFill>
            <a:srgbClr val="3A789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763587"/>
            <a:ext cx="5943451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VALIDATION BOUNDARY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1092740"/>
            <a:ext cx="5943451" cy="167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Wireshark validates real traffic beside the simulated campus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971006"/>
            <a:ext cx="5943451" cy="3133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Capture interface: Linux wireless adapter 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wlo1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.</a:t>
            </a:r>
            <a:endParaRPr lang="en-US" sz="1900" dirty="0"/>
          </a:p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Interface 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wlo1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(Linux Wireless = Wi-Fi on Windows); Host 172.16.222.235/24; Gateway 172.16.222.1; File Day5_Wireshark_wlo1_172.16.pcapng; Filters: arp 16 packets, icmp 8 packets, dns 94 packets, tcp - as captured on 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wlo1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.</a:t>
            </a:r>
            <a:endParaRPr lang="en-US" sz="1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Static IP: a valid address means manual ipconfig confirmation, not a DHCP lease.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248244" y="0"/>
            <a:ext cx="5943451" cy="3110111"/>
          </a:xfrm>
          <a:prstGeom prst="rect">
            <a:avLst/>
          </a:prstGeom>
          <a:noFill/>
          <a:ln w="25399">
            <a:solidFill>
              <a:srgbClr val="6266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83228" y="649766"/>
            <a:ext cx="4673483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Observed route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83228" y="1168495"/>
            <a:ext cx="4673483" cy="1011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Default via 172.16.222.1 on 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wlo1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. Ping to 172.16.222.1 failed, while external connectivity worked.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48244" y="3414911"/>
            <a:ext cx="5943451" cy="3443089"/>
          </a:xfrm>
          <a:prstGeom prst="rect">
            <a:avLst/>
          </a:prstGeom>
          <a:noFill/>
          <a:ln w="25399">
            <a:solidFill>
              <a:srgbClr val="6266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83228" y="4064677"/>
            <a:ext cx="4673483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What the split means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83228" y="4583406"/>
            <a:ext cx="4673483" cy="1344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Wireshark cannot capture Packet Tracer’s internal traffic directly. The project combines Simulation Mode with a real 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wlo1</a:t>
            </a:r>
            <a:pPr algn="l" indent="0" marL="0">
              <a:lnSpc>
                <a:spcPct val="115000"/>
              </a:lnSpc>
              <a:buNone/>
            </a:pPr>
            <a:r>
              <a:rPr lang="en-US" sz="19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capture.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PACKET 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10972526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Five filters expose the request, reply, and resolution path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33625"/>
            <a:ext cx="3581310" cy="20145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4450715"/>
            <a:ext cx="358131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arp</a:t>
            </a:r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· 16 packets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291" y="2333625"/>
            <a:ext cx="3530512" cy="19858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291" y="4422041"/>
            <a:ext cx="353051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icmp</a:t>
            </a:r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· 8 packets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8026199" y="2333625"/>
            <a:ext cx="3555911" cy="2350393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9" name="Text 5"/>
          <p:cNvSpPr/>
          <p:nvPr/>
        </p:nvSpPr>
        <p:spPr>
          <a:xfrm>
            <a:off x="8254793" y="2449991"/>
            <a:ext cx="3098722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dns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254793" y="2967577"/>
            <a:ext cx="3098722" cy="847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94 packets. A, AAAA, and HTTPS queries.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nslookup google.com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resolved to 142.250.183.174.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09585" y="4836418"/>
            <a:ext cx="3581310" cy="1014611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2" name="Text 8"/>
          <p:cNvSpPr/>
          <p:nvPr/>
        </p:nvSpPr>
        <p:spPr>
          <a:xfrm>
            <a:off x="838179" y="4952784"/>
            <a:ext cx="3124122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tcp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838179" y="5470370"/>
            <a:ext cx="33527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SYN, SYN-ACK, ACK to port 443.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4343291" y="4836418"/>
            <a:ext cx="7238819" cy="1014611"/>
          </a:xfrm>
          <a:prstGeom prst="rect">
            <a:avLst/>
          </a:prstGeom>
          <a:solidFill>
            <a:srgbClr val="111A20"/>
          </a:solidFill>
          <a:ln/>
        </p:spPr>
      </p:sp>
      <p:sp>
        <p:nvSpPr>
          <p:cNvPr id="15" name="Text 11"/>
          <p:cNvSpPr/>
          <p:nvPr/>
        </p:nvSpPr>
        <p:spPr>
          <a:xfrm>
            <a:off x="4571886" y="4952784"/>
            <a:ext cx="6781630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udp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571886" y="5470370"/>
            <a:ext cx="7010225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DNS on port 53.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FINAL TESTS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10972526" cy="687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All six final tests matched the intended policy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39873"/>
            <a:ext cx="482588" cy="48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467" y="1850208"/>
            <a:ext cx="453378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Pass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333467" y="2312337"/>
            <a:ext cx="453378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Student static IP 192.168.10.10 · Student gateway 192.168.10.1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2" y="1839873"/>
            <a:ext cx="482588" cy="482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048324" y="1850208"/>
            <a:ext cx="453378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Pass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048324" y="2312337"/>
            <a:ext cx="453378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Student → Server 192.168.30.100 · Faculty → Server 192.168.30.100</a:t>
            </a:r>
            <a:endParaRPr lang="en-US" sz="16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328948"/>
            <a:ext cx="482588" cy="482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33467" y="3339283"/>
            <a:ext cx="453378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Blocked as expected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333467" y="3801412"/>
            <a:ext cx="4762381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Student → Admin 192.168.30.10</a:t>
            </a:r>
            <a:endParaRPr lang="en-US" sz="1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2" y="3328948"/>
            <a:ext cx="482588" cy="482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048324" y="3339283"/>
            <a:ext cx="4533787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F4B23E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Blocked as expected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7048324" y="3801412"/>
            <a:ext cx="4533787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Guest → 192.168.10.10, 192.168.20.10, and 192.168.30.100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09585" y="4576763"/>
            <a:ext cx="10972526" cy="1362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Static verification: “valid address” means manual </a:t>
            </a:r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00" spc="7" kern="1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ipconfig</a:t>
            </a:r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confirmation, not a DHCP lease.</a:t>
            </a:r>
            <a:endParaRPr lang="en-US" sz="1400" dirty="0"/>
          </a:p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Commands used: ipconfig (static 192.168.10.10, no DHCP), ping 192.168.10.1, ping 192.168.30.100 Allow, ping 192.168.30.10 Blocked timeout, show access-lists hits, show ip interface brief.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A9B6B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Mobile hotspot gateway: 172.16.222.1 (Android 12+ uses the 172.16.x.x range). Host: wlo1 172.16.222.235.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6089498" y="1839913"/>
            <a:ext cx="12700" cy="1260475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8" name="Shape 12"/>
          <p:cNvSpPr/>
          <p:nvPr/>
        </p:nvSpPr>
        <p:spPr>
          <a:xfrm>
            <a:off x="609585" y="3094038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19" name="Shape 13"/>
          <p:cNvSpPr/>
          <p:nvPr/>
        </p:nvSpPr>
        <p:spPr>
          <a:xfrm>
            <a:off x="6089498" y="3100388"/>
            <a:ext cx="12700" cy="1260475"/>
          </a:xfrm>
          <a:prstGeom prst="rect">
            <a:avLst/>
          </a:prstGeom>
          <a:solidFill>
            <a:srgbClr val="3F474C"/>
          </a:solidFill>
          <a:ln/>
        </p:spPr>
      </p:sp>
      <p:sp>
        <p:nvSpPr>
          <p:cNvPr id="20" name="Shape 14"/>
          <p:cNvSpPr/>
          <p:nvPr/>
        </p:nvSpPr>
        <p:spPr>
          <a:xfrm>
            <a:off x="6095848" y="3094038"/>
            <a:ext cx="5486263" cy="12700"/>
          </a:xfrm>
          <a:prstGeom prst="rect">
            <a:avLst/>
          </a:prstGeom>
          <a:solidFill>
            <a:srgbClr val="3F474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9919"/>
            <a:ext cx="7711287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04" kern="100" dirty="0">
                <a:solidFill>
                  <a:srgbClr val="D3E6EE"/>
                </a:solidFill>
                <a:latin typeface="Red Hat Mono" pitchFamily="34" charset="0"/>
                <a:ea typeface="Red Hat Mono" pitchFamily="34" charset="-122"/>
                <a:cs typeface="Red Hat Mono" pitchFamily="34" charset="0"/>
              </a:rPr>
              <a:t>NEXT VERSION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071"/>
            <a:ext cx="7101702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00" b="1" spc="-36" kern="100" dirty="0">
                <a:solidFill>
                  <a:srgbClr val="F4B23E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0"/>
              </a:rPr>
              <a:t>From lab fixes to a stronger next version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333625"/>
            <a:ext cx="7101702" cy="3954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Troubleshooting: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rewired Fa0/6 and Fa0/8 to Fa0/3 and Fa0/5; fixed router flapping by trunking Gig0/1; used router-appropriate verification commands; cleared ARP with 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arp -d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and 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clear arp-cache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; selected 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highlight>
                  <a:srgbClr val="33393E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wlo1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for Wireshark.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Limitations: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static IPs, wired-only design, no direct Wireshark bridge, ACL coverage only on Student and Guest, single switch/router path, simulated performance.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Future: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DHCP pools, WLC + APs, IoT VLAN, IEEE 802.1X, Packet Tracer Cloud bridge, redundant links and a second switch.</a:t>
            </a:r>
            <a:endParaRPr lang="en-US" sz="1600" dirty="0"/>
          </a:p>
          <a:p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b="1" dirty="0">
                <a:solidFill>
                  <a:srgbClr val="E4E9EB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0"/>
              </a:rPr>
              <a:t>Conclusion:</a:t>
            </a:r>
            <a:pPr algn="l" indent="0" marL="0">
              <a:lnSpc>
                <a:spcPct val="115000"/>
              </a:lnSpc>
              <a:spcAft>
                <a:spcPts val="1650"/>
              </a:spcAft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 VLANs + Router-on-a-Stick + ACLs isolate user groups while preserving permitted communication.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4E9EB"/>
                </a:solidFill>
                <a:latin typeface="Red Hat Text" pitchFamily="34" charset="0"/>
                <a:ea typeface="Red Hat Text" pitchFamily="34" charset="-122"/>
                <a:cs typeface="Red Hat Text" pitchFamily="34" charset="0"/>
              </a:rPr>
              <a:t>No DHCP used - All addresses static verified via ipconfig, not lease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65" y="0"/>
            <a:ext cx="3566130" cy="68974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2026-10-26T08:03:14Z</dcterms:created>
  <dcterms:modified xsi:type="dcterms:W3CDTF">2026-10-26T08:03:14Z</dcterms:modified>
</cp:coreProperties>
</file>